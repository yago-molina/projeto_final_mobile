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223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90D10"/>
                </a:solidFill>
                <a:latin typeface="Aptos"/>
              </a:rPr>
              <a:t>01 — HOME /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555C5E"/>
                </a:solidFill>
                <a:latin typeface="Aptos"/>
              </a:rPr>
              <a:t>Estrutura mobile • manter tokens visuais da Monetiza Web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051560"/>
            <a:ext cx="6309360" cy="12573000"/>
          </a:xfrm>
          <a:prstGeom prst="roundRect">
            <a:avLst/>
          </a:prstGeom>
          <a:solidFill>
            <a:srgbClr val="090D10"/>
          </a:solidFill>
          <a:ln w="15240">
            <a:solidFill>
              <a:srgbClr val="32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2743200" cy="210312"/>
          </a:xfrm>
          <a:prstGeom prst="roundRect">
            <a:avLst/>
          </a:prstGeom>
          <a:solidFill>
            <a:srgbClr val="020506"/>
          </a:solidFill>
          <a:ln w="12700">
            <a:solidFill>
              <a:srgbClr val="0205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481328"/>
            <a:ext cx="5943600" cy="11841480"/>
          </a:xfrm>
          <a:prstGeom prst="roundRect">
            <a:avLst/>
          </a:prstGeom>
          <a:solidFill>
            <a:srgbClr val="090D10"/>
          </a:solidFill>
          <a:ln w="12700">
            <a:solidFill>
              <a:srgbClr val="090D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55648"/>
            <a:ext cx="1828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6"/>
                </a:solidFill>
                <a:latin typeface="Aptos"/>
              </a:rPr>
              <a:t>MONETIZA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1746504"/>
            <a:ext cx="4114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5F7F6"/>
                </a:solidFill>
                <a:latin typeface="Aptos"/>
              </a:rPr>
              <a:t>☰</a:t>
            </a:r>
          </a:p>
        </p:txBody>
      </p:sp>
      <p:sp>
        <p:nvSpPr>
          <p:cNvPr id="9" name="Oval 8"/>
          <p:cNvSpPr/>
          <p:nvPr/>
        </p:nvSpPr>
        <p:spPr>
          <a:xfrm>
            <a:off x="6007608" y="1682496"/>
            <a:ext cx="365760" cy="365760"/>
          </a:xfrm>
          <a:prstGeom prst="ellipse">
            <a:avLst/>
          </a:prstGeom>
          <a:solidFill>
            <a:srgbClr val="11533E"/>
          </a:solidFill>
          <a:ln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8" y="1691640"/>
            <a:ext cx="365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FC989"/>
                </a:solidFill>
                <a:latin typeface="Aptos"/>
              </a:rP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76272"/>
            <a:ext cx="530352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5F7F6"/>
                </a:solidFill>
                <a:latin typeface="Aptos"/>
              </a:rPr>
              <a:t>Bom dia, Yago 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42032"/>
            <a:ext cx="5303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1A9AA"/>
                </a:solidFill>
                <a:latin typeface="Aptos"/>
              </a:rPr>
              <a:t>Vamos monetizar sua próxima ideia.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971800"/>
            <a:ext cx="5394960" cy="2029968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4208" y="3227832"/>
            <a:ext cx="2286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1A9AA"/>
                </a:solidFill>
                <a:latin typeface="Aptos"/>
              </a:rPr>
              <a:t>Faturamento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547872"/>
            <a:ext cx="32918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6"/>
                </a:solidFill>
                <a:latin typeface="Aptos"/>
              </a:rPr>
              <a:t>R$ 229,59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050791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FC989"/>
                </a:solidFill>
                <a:latin typeface="Aptos"/>
              </a:rPr>
              <a:t>↑ 12,4% este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3246120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A1A9AA"/>
                </a:solidFill>
                <a:latin typeface="Aptos"/>
              </a:rPr>
              <a:t>Ver detalhes  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64208" y="4453128"/>
            <a:ext cx="4782312" cy="0"/>
          </a:xfrm>
          <a:prstGeom prst="line">
            <a:avLst/>
          </a:prstGeom>
          <a:ln w="12700">
            <a:solidFill>
              <a:srgbClr val="363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64208" y="4590288"/>
            <a:ext cx="1463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F5F7F6"/>
                </a:solidFill>
                <a:latin typeface="Aptos"/>
              </a:rPr>
              <a:t>12 vendas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590288"/>
            <a:ext cx="1463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F5F7F6"/>
                </a:solidFill>
                <a:latin typeface="Aptos"/>
              </a:rPr>
              <a:t>4 produtos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5285232"/>
            <a:ext cx="5394960" cy="1828800"/>
          </a:xfrm>
          <a:prstGeom prst="roundRect">
            <a:avLst/>
          </a:prstGeom>
          <a:solidFill>
            <a:srgbClr val="11533E"/>
          </a:solidFill>
          <a:ln w="12700">
            <a:solidFill>
              <a:srgbClr val="11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82496" y="5522976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FC989"/>
                </a:solidFill>
                <a:latin typeface="Aptos"/>
              </a:rPr>
              <a:t>✦  MONETIZA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2496" y="5815584"/>
            <a:ext cx="3931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6"/>
                </a:solidFill>
                <a:latin typeface="Aptos"/>
              </a:rPr>
              <a:t>Sua ideia pode virar
um produto.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6" y="6473952"/>
            <a:ext cx="36576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C2E1D6"/>
                </a:solidFill>
                <a:latin typeface="Aptos"/>
              </a:rPr>
              <a:t>Crie ebooks, cursos e materiais digitais.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1808" y="6473952"/>
            <a:ext cx="1143000" cy="384048"/>
          </a:xfrm>
          <a:prstGeom prst="roundRect">
            <a:avLst/>
          </a:prstGeom>
          <a:solidFill>
            <a:srgbClr val="1FC989"/>
          </a:solidFill>
          <a:ln w="12700">
            <a:solidFill>
              <a:srgbClr val="1F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8" y="6492240"/>
            <a:ext cx="1143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090D10"/>
                </a:solidFill>
                <a:latin typeface="Aptos"/>
              </a:rPr>
              <a:t>Começar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7424927"/>
            <a:ext cx="5303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1A9AA"/>
                </a:solidFill>
                <a:latin typeface="Aptos"/>
              </a:rPr>
              <a:t>ACESSO RÁPIDO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7754112"/>
            <a:ext cx="1572768" cy="107899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45336" y="7909560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FC989"/>
                </a:solidFill>
                <a:latin typeface="Aptos"/>
              </a:rPr>
              <a:t>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7900416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Produtos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18688" y="7754112"/>
            <a:ext cx="1572768" cy="107899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6704" y="7909560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FC989"/>
                </a:solidFill>
                <a:latin typeface="Aptos"/>
              </a:rPr>
              <a:t>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7" y="7900416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Vendas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0056" y="7754112"/>
            <a:ext cx="1572768" cy="107899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8072" y="7909560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FC989"/>
                </a:solidFill>
                <a:latin typeface="Aptos"/>
              </a:rPr>
              <a:t>$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7256" y="7900416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Financeiro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9079992"/>
            <a:ext cx="5303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1A9AA"/>
                </a:solidFill>
                <a:latin typeface="Aptos"/>
              </a:rPr>
              <a:t>SEUS PRODUTOS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9070848"/>
            <a:ext cx="1280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1FC989"/>
                </a:solidFill>
                <a:latin typeface="Aptos"/>
              </a:rPr>
              <a:t>Ver todos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17320" y="9436608"/>
            <a:ext cx="2514600" cy="196596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45336" y="9601200"/>
            <a:ext cx="658368" cy="777240"/>
          </a:xfrm>
          <a:prstGeom prst="roundRect">
            <a:avLst/>
          </a:prstGeom>
          <a:solidFill>
            <a:srgbClr val="181E22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45336" y="9811512"/>
            <a:ext cx="6583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A1A9AA"/>
                </a:solidFill>
                <a:latin typeface="Aptos"/>
              </a:rPr>
              <a:t>CAPA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9619488"/>
            <a:ext cx="14173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F5F7F6"/>
                </a:solidFill>
                <a:latin typeface="Aptos"/>
              </a:rPr>
              <a:t>Ebook de Receitas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10241280"/>
            <a:ext cx="1280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FC989"/>
                </a:solidFill>
                <a:latin typeface="Aptos"/>
              </a:rPr>
              <a:t>R$ 29,90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10625328"/>
            <a:ext cx="12344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A1A9AA"/>
                </a:solidFill>
                <a:latin typeface="Aptos"/>
              </a:rPr>
              <a:t>● Publicado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24528" y="9436608"/>
            <a:ext cx="2514600" cy="196596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52544" y="9601200"/>
            <a:ext cx="658368" cy="777240"/>
          </a:xfrm>
          <a:prstGeom prst="roundRect">
            <a:avLst/>
          </a:prstGeom>
          <a:solidFill>
            <a:srgbClr val="181E22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52544" y="9811512"/>
            <a:ext cx="6583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A1A9AA"/>
                </a:solidFill>
                <a:latin typeface="Aptos"/>
              </a:rPr>
              <a:t>CAPA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38928" y="9619488"/>
            <a:ext cx="14173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F5F7F6"/>
                </a:solidFill>
                <a:latin typeface="Aptos"/>
              </a:rPr>
              <a:t>Guia de Marketing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38928" y="10241280"/>
            <a:ext cx="1280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FC989"/>
                </a:solidFill>
                <a:latin typeface="Aptos"/>
              </a:rPr>
              <a:t>R$ 49,90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38928" y="10625328"/>
            <a:ext cx="12344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A1A9AA"/>
                </a:solidFill>
                <a:latin typeface="Aptos"/>
              </a:rPr>
              <a:t>● Publicado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11612880"/>
            <a:ext cx="5303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1A9AA"/>
                </a:solidFill>
                <a:latin typeface="Aptos"/>
              </a:rPr>
              <a:t>ÚLTIMAS VENDAS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11603736"/>
            <a:ext cx="1280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1FC989"/>
                </a:solidFill>
                <a:latin typeface="Aptos"/>
              </a:rPr>
              <a:t>Ver todas 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17320" y="11878056"/>
            <a:ext cx="5394960" cy="41148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72768" y="11951208"/>
            <a:ext cx="21945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F5F7F6"/>
                </a:solidFill>
                <a:latin typeface="Aptos"/>
              </a:rPr>
              <a:t>Ebook de Receitas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5887" y="11951208"/>
            <a:ext cx="12801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0">
                <a:solidFill>
                  <a:srgbClr val="A1A9AA"/>
                </a:solidFill>
                <a:latin typeface="Aptos"/>
              </a:rPr>
              <a:t>João Silva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66944" y="11951208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1FC989"/>
                </a:solidFill>
                <a:latin typeface="Aptos"/>
              </a:rPr>
              <a:t>+ R$ 29,90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53312" y="12390120"/>
            <a:ext cx="5522976" cy="694944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7276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C989"/>
                </a:solidFill>
                <a:latin typeface="Aptos"/>
              </a:rPr>
              <a:t>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4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FC989"/>
                </a:solidFill>
                <a:latin typeface="Aptos"/>
              </a:rPr>
              <a:t>Início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0779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9806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Criar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955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982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Perfil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223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90D10"/>
                </a:solidFill>
                <a:latin typeface="Aptos"/>
              </a:rPr>
              <a:t>02 — MONETIZA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555C5E"/>
                </a:solidFill>
                <a:latin typeface="Aptos"/>
              </a:rPr>
              <a:t>Entrada direta para criação assistida por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051560"/>
            <a:ext cx="6309360" cy="12573000"/>
          </a:xfrm>
          <a:prstGeom prst="roundRect">
            <a:avLst/>
          </a:prstGeom>
          <a:solidFill>
            <a:srgbClr val="090D10"/>
          </a:solidFill>
          <a:ln w="15240">
            <a:solidFill>
              <a:srgbClr val="32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2743200" cy="210312"/>
          </a:xfrm>
          <a:prstGeom prst="roundRect">
            <a:avLst/>
          </a:prstGeom>
          <a:solidFill>
            <a:srgbClr val="020506"/>
          </a:solidFill>
          <a:ln w="12700">
            <a:solidFill>
              <a:srgbClr val="0205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481328"/>
            <a:ext cx="5943600" cy="11841480"/>
          </a:xfrm>
          <a:prstGeom prst="roundRect">
            <a:avLst/>
          </a:prstGeom>
          <a:solidFill>
            <a:srgbClr val="090D10"/>
          </a:solidFill>
          <a:ln w="12700">
            <a:solidFill>
              <a:srgbClr val="090D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6"/>
                </a:solidFill>
                <a:latin typeface="Aptos"/>
              </a:rPr>
              <a:t>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746504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6"/>
                </a:solidFill>
                <a:latin typeface="Aptos"/>
              </a:rPr>
              <a:t>Monetiza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4650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FC989"/>
                </a:solidFill>
                <a:latin typeface="Aptos"/>
              </a:rPr>
              <a:t>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331720"/>
            <a:ext cx="5394960" cy="1965960"/>
          </a:xfrm>
          <a:prstGeom prst="roundRect">
            <a:avLst/>
          </a:prstGeom>
          <a:solidFill>
            <a:srgbClr val="11533E"/>
          </a:solidFill>
          <a:ln w="12700">
            <a:solidFill>
              <a:srgbClr val="11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578608"/>
            <a:ext cx="3657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FC989"/>
                </a:solidFill>
                <a:latin typeface="Aptos"/>
              </a:rPr>
              <a:t>✦  CRIADOR DE PRODUTOS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907792"/>
            <a:ext cx="3840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5F7F6"/>
                </a:solidFill>
                <a:latin typeface="Aptos"/>
              </a:rPr>
              <a:t>O que você quer
criar hoje?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675887"/>
            <a:ext cx="42062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C2E1D6"/>
                </a:solidFill>
                <a:latin typeface="Aptos"/>
              </a:rPr>
              <a:t>Descreva sua ideia e deixe a IA estruturar o produto.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45152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1A9AA"/>
                </a:solidFill>
                <a:latin typeface="Aptos"/>
              </a:rPr>
              <a:t>Sugestões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5047488"/>
            <a:ext cx="5394960" cy="384048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488" y="5093208"/>
            <a:ext cx="43891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F5F7F6"/>
                </a:solidFill>
                <a:latin typeface="Aptos"/>
              </a:rPr>
              <a:t>Ebook de receitas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084064"/>
            <a:ext cx="2286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FC98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5550407"/>
            <a:ext cx="5394960" cy="384048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18488" y="5596128"/>
            <a:ext cx="43891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F5F7F6"/>
                </a:solidFill>
                <a:latin typeface="Aptos"/>
              </a:rPr>
              <a:t>Curso de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5586983"/>
            <a:ext cx="2286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FC989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6053327"/>
            <a:ext cx="5394960" cy="384048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8488" y="6099048"/>
            <a:ext cx="43891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F5F7F6"/>
                </a:solidFill>
                <a:latin typeface="Aptos"/>
              </a:rPr>
              <a:t>Planner 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6089904"/>
            <a:ext cx="2286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FC989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6839712"/>
            <a:ext cx="5394960" cy="406908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4208" y="7095744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1A9AA"/>
                </a:solidFill>
                <a:latin typeface="Aptos"/>
              </a:rPr>
              <a:t>Conversa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7516368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1FC989"/>
                </a:solidFill>
                <a:latin typeface="Aptos"/>
              </a:rPr>
              <a:t>Você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7772400"/>
            <a:ext cx="3767328" cy="713232"/>
          </a:xfrm>
          <a:prstGeom prst="roundRect">
            <a:avLst/>
          </a:prstGeom>
          <a:solidFill>
            <a:srgbClr val="11533E"/>
          </a:solidFill>
          <a:ln w="12700">
            <a:solidFill>
              <a:srgbClr val="11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9232" y="7927848"/>
            <a:ext cx="3337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40" b="0">
                <a:solidFill>
                  <a:srgbClr val="F5F7F6"/>
                </a:solidFill>
                <a:latin typeface="Aptos"/>
              </a:rPr>
              <a:t>Quero criar um ebook sobre receitas saudáveis.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873252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FC989"/>
                </a:solidFill>
                <a:latin typeface="Aptos"/>
              </a:rPr>
              <a:t>Monetiza 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64208" y="8997696"/>
            <a:ext cx="4526280" cy="1097280"/>
          </a:xfrm>
          <a:prstGeom prst="roundRect">
            <a:avLst/>
          </a:prstGeom>
          <a:solidFill>
            <a:srgbClr val="181E22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9180576"/>
            <a:ext cx="4069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F5F7F6"/>
                </a:solidFill>
                <a:latin typeface="Aptos"/>
              </a:rPr>
              <a:t>Perfeito. Vou estruturar seu produto,
definir capítulos e preparar a criação.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64208" y="10369296"/>
            <a:ext cx="4526280" cy="438912"/>
          </a:xfrm>
          <a:prstGeom prst="roundRect">
            <a:avLst/>
          </a:prstGeom>
          <a:solidFill>
            <a:srgbClr val="1FC989"/>
          </a:solidFill>
          <a:ln w="12700">
            <a:solidFill>
              <a:srgbClr val="1F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64208" y="10424160"/>
            <a:ext cx="4526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90D10"/>
                </a:solidFill>
                <a:latin typeface="Aptos"/>
              </a:rPr>
              <a:t>Gerar produto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12390120"/>
            <a:ext cx="5522976" cy="694944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276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Início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779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C989"/>
                </a:solidFill>
                <a:latin typeface="Aptos"/>
              </a:rPr>
              <a:t>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9806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FC989"/>
                </a:solidFill>
                <a:latin typeface="Aptos"/>
              </a:rPr>
              <a:t>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Criar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982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Perfil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223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90D10"/>
                </a:solidFill>
                <a:latin typeface="Aptos"/>
              </a:rPr>
              <a:t>03 — CRIAR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555C5E"/>
                </a:solidFill>
                <a:latin typeface="Aptos"/>
              </a:rPr>
              <a:t>Atalho + para iniciar criação manual ou com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051560"/>
            <a:ext cx="6309360" cy="12573000"/>
          </a:xfrm>
          <a:prstGeom prst="roundRect">
            <a:avLst/>
          </a:prstGeom>
          <a:solidFill>
            <a:srgbClr val="090D10"/>
          </a:solidFill>
          <a:ln w="15240">
            <a:solidFill>
              <a:srgbClr val="32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2743200" cy="210312"/>
          </a:xfrm>
          <a:prstGeom prst="roundRect">
            <a:avLst/>
          </a:prstGeom>
          <a:solidFill>
            <a:srgbClr val="020506"/>
          </a:solidFill>
          <a:ln w="12700">
            <a:solidFill>
              <a:srgbClr val="0205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481328"/>
            <a:ext cx="5943600" cy="11841480"/>
          </a:xfrm>
          <a:prstGeom prst="roundRect">
            <a:avLst/>
          </a:prstGeom>
          <a:solidFill>
            <a:srgbClr val="090D10"/>
          </a:solidFill>
          <a:ln w="12700">
            <a:solidFill>
              <a:srgbClr val="090D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6"/>
                </a:solidFill>
                <a:latin typeface="Aptos"/>
              </a:rPr>
              <a:t>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746504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6"/>
                </a:solidFill>
                <a:latin typeface="Aptos"/>
              </a:rPr>
              <a:t>Criar produto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95728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6"/>
                </a:solidFill>
                <a:latin typeface="Aptos"/>
              </a:rPr>
              <a:t>Escolha como começar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79776"/>
            <a:ext cx="5303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A1A9AA"/>
                </a:solidFill>
                <a:latin typeface="Aptos"/>
              </a:rPr>
              <a:t>Você pode deixar a IA fazer o trabalho pesado.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364992"/>
            <a:ext cx="5394960" cy="1965960"/>
          </a:xfrm>
          <a:prstGeom prst="roundRect">
            <a:avLst/>
          </a:prstGeom>
          <a:solidFill>
            <a:srgbClr val="11533E"/>
          </a:solidFill>
          <a:ln w="12700">
            <a:solidFill>
              <a:srgbClr val="11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6" y="3611880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FC989"/>
                </a:solidFill>
                <a:latin typeface="Aptos"/>
              </a:rPr>
              <a:t>✦  RECOMENDADO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913632"/>
            <a:ext cx="3200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6"/>
                </a:solidFill>
                <a:latin typeface="Aptos"/>
              </a:rPr>
              <a:t>Criar com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6" y="4315968"/>
            <a:ext cx="4160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C2E1D6"/>
                </a:solidFill>
                <a:latin typeface="Aptos"/>
              </a:rPr>
              <a:t>Responda algumas perguntas e a Monetiza IA
estrutura o seu produto.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977639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FC98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5596128"/>
            <a:ext cx="5394960" cy="1481328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5888736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7F6"/>
                </a:solidFill>
                <a:latin typeface="Aptos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824728"/>
            <a:ext cx="2926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7F6"/>
                </a:solidFill>
                <a:latin typeface="Aptos"/>
              </a:rPr>
              <a:t>Criar manualmente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6208776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A1A9AA"/>
                </a:solidFill>
                <a:latin typeface="Aptos"/>
              </a:rPr>
              <a:t>Defina nome, preço, descrição e arquivos.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59436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7571231"/>
            <a:ext cx="5303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A1A9AA"/>
                </a:solidFill>
                <a:latin typeface="Aptos"/>
              </a:rPr>
              <a:t>FLUXO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7973568"/>
            <a:ext cx="2514600" cy="100584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72768" y="811072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FC989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2536" y="8092440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5F7F6"/>
                </a:solidFill>
                <a:latin typeface="Aptos"/>
              </a:rPr>
              <a:t>Ideia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2536" y="843991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A1A9AA"/>
                </a:solidFill>
                <a:latin typeface="Aptos"/>
              </a:rPr>
              <a:t>Você descreve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7973568"/>
            <a:ext cx="2514600" cy="100584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811072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FC989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5" y="8092440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5F7F6"/>
                </a:solidFill>
                <a:latin typeface="Aptos"/>
              </a:rPr>
              <a:t>Construção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5" y="843991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A1A9AA"/>
                </a:solidFill>
                <a:latin typeface="Aptos"/>
              </a:rPr>
              <a:t>IA estrutura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9235440"/>
            <a:ext cx="2514600" cy="100584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9372600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FC989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2536" y="9354312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5F7F6"/>
                </a:solidFill>
                <a:latin typeface="Aptos"/>
              </a:rPr>
              <a:t>Produto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2536" y="970178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A1A9AA"/>
                </a:solidFill>
                <a:latin typeface="Aptos"/>
              </a:rPr>
              <a:t>Você revisa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9235440"/>
            <a:ext cx="2514600" cy="100584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9372600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FC989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5" y="9354312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5F7F6"/>
                </a:solidFill>
                <a:latin typeface="Aptos"/>
              </a:rPr>
              <a:t>Publicar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455" y="970178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A1A9AA"/>
                </a:solidFill>
                <a:latin typeface="Aptos"/>
              </a:rPr>
              <a:t>Começa a vender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3312" y="12390120"/>
            <a:ext cx="5522976" cy="694944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Início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806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C989"/>
                </a:solidFill>
                <a:latin typeface="Aptos"/>
              </a:rPr>
              <a:t>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FC989"/>
                </a:solidFill>
                <a:latin typeface="Aptos"/>
              </a:rPr>
              <a:t>Criar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955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982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Perfil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223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90D10"/>
                </a:solidFill>
                <a:latin typeface="Aptos"/>
              </a:rPr>
              <a:t>04 — MENU / PERFIL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555C5E"/>
                </a:solidFill>
                <a:latin typeface="Aptos"/>
              </a:rPr>
              <a:t>Acesso às áreas secundárias sem poluir a Home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051560"/>
            <a:ext cx="6309360" cy="12573000"/>
          </a:xfrm>
          <a:prstGeom prst="roundRect">
            <a:avLst/>
          </a:prstGeom>
          <a:solidFill>
            <a:srgbClr val="090D10"/>
          </a:solidFill>
          <a:ln w="15240">
            <a:solidFill>
              <a:srgbClr val="32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2743200" cy="210312"/>
          </a:xfrm>
          <a:prstGeom prst="roundRect">
            <a:avLst/>
          </a:prstGeom>
          <a:solidFill>
            <a:srgbClr val="020506"/>
          </a:solidFill>
          <a:ln w="12700">
            <a:solidFill>
              <a:srgbClr val="0205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481328"/>
            <a:ext cx="5943600" cy="11841480"/>
          </a:xfrm>
          <a:prstGeom prst="roundRect">
            <a:avLst/>
          </a:prstGeom>
          <a:solidFill>
            <a:srgbClr val="090D10"/>
          </a:solidFill>
          <a:ln w="12700">
            <a:solidFill>
              <a:srgbClr val="090D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6"/>
                </a:solidFill>
                <a:latin typeface="Aptos"/>
              </a:rPr>
              <a:t>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746504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6"/>
                </a:solidFill>
                <a:latin typeface="Aptos"/>
              </a:rPr>
              <a:t>Menu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304288"/>
            <a:ext cx="5394960" cy="1097280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2496" y="2560320"/>
            <a:ext cx="548640" cy="548640"/>
          </a:xfrm>
          <a:prstGeom prst="ellipse">
            <a:avLst/>
          </a:prstGeom>
          <a:solidFill>
            <a:srgbClr val="11533E"/>
          </a:solidFill>
          <a:ln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82496" y="2569463"/>
            <a:ext cx="5486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C989"/>
                </a:solidFill>
                <a:latin typeface="Aptos"/>
              </a:rP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459736"/>
            <a:ext cx="25603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F5F7F6"/>
                </a:solidFill>
                <a:latin typeface="Aptos"/>
              </a:rPr>
              <a:t>Yago Molina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81635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1FC989"/>
                </a:solidFill>
                <a:latin typeface="Aptos"/>
              </a:rPr>
              <a:t>Ver perfil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749039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3840479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C989"/>
                </a:solidFill>
                <a:latin typeface="Aptos"/>
              </a:rPr>
              <a:t>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840479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Início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8496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434840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4526279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C989"/>
                </a:solidFill>
                <a:latin typeface="Aptos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526279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Monetiza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45354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5120640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5212079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C989"/>
                </a:solidFill>
                <a:latin typeface="Aptos"/>
              </a:rPr>
              <a:t>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212079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Meus produtos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52212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5806440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5897879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C989"/>
                </a:solidFill>
                <a:latin typeface="Aptos"/>
              </a:rPr>
              <a:t>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897879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Minhas vendas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59070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6492240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6583679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C989"/>
                </a:solidFill>
                <a:latin typeface="Aptos"/>
              </a:rPr>
              <a:t>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6583679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Financeiro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65928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17320" y="7178040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27632" y="7269479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C989"/>
                </a:solidFill>
                <a:latin typeface="Aptos"/>
              </a:rPr>
              <a:t>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7269479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F7F6"/>
                </a:solidFill>
                <a:latin typeface="Aptos"/>
              </a:rPr>
              <a:t>Clientes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5352" y="72786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7863840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27632" y="7955279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A1A9AA"/>
                </a:solidFill>
                <a:latin typeface="Aptos"/>
              </a:rPr>
              <a:t>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7955279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7F6"/>
                </a:solidFill>
                <a:latin typeface="Aptos"/>
              </a:rPr>
              <a:t>Configurações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7964423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17320" y="8549640"/>
            <a:ext cx="5394960" cy="53035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8641080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A1A9AA"/>
                </a:solidFill>
                <a:latin typeface="Aptos"/>
              </a:rPr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8641080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7F6"/>
                </a:solidFill>
                <a:latin typeface="Aptos"/>
              </a:rPr>
              <a:t>Ajuda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86502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1A9AA"/>
                </a:solidFill>
                <a:latin typeface="Aptos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3312" y="12390120"/>
            <a:ext cx="5522976" cy="694944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36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7276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Início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779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806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A1A9AA"/>
                </a:solidFill>
                <a:latin typeface="Aptos"/>
              </a:rPr>
              <a:t>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1A9AA"/>
                </a:solidFill>
                <a:latin typeface="Aptos"/>
              </a:rPr>
              <a:t>Criar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9552" y="12454128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C989"/>
                </a:solidFill>
                <a:latin typeface="Aptos"/>
              </a:rPr>
              <a:t>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9824" y="12719304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FC989"/>
                </a:solidFill>
                <a:latin typeface="Aptos"/>
              </a:rPr>
              <a:t>Perfil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7040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090D10"/>
                </a:solidFill>
                <a:latin typeface="Aptos"/>
              </a:rPr>
              <a:t>HANDOFF — FRONT-END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70408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A6263"/>
                </a:solidFill>
                <a:latin typeface="Aptos"/>
              </a:rPr>
              <a:t>Monetiza Mobile • Wireframe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7040880" cy="1920240"/>
          </a:xfrm>
          <a:prstGeom prst="roundRect">
            <a:avLst/>
          </a:prstGeom>
          <a:solidFill>
            <a:srgbClr val="EBF1EE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4463E"/>
                </a:solidFill>
                <a:latin typeface="Aptos"/>
              </a:rPr>
              <a:t>PRINCÍPIOS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6355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90D10"/>
                </a:solidFill>
                <a:latin typeface="Aptos"/>
              </a:rPr>
              <a:t>• Não alterar a identidade visual existente da Monetiza Web.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6355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90D10"/>
                </a:solidFill>
                <a:latin typeface="Aptos"/>
              </a:rPr>
              <a:t>• Usar o mobile como adaptação responsiva, não como novo produto visual.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06624"/>
            <a:ext cx="6355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90D10"/>
                </a:solidFill>
                <a:latin typeface="Aptos"/>
              </a:rPr>
              <a:t>• IA é uma ação principal e deve estar acessível em 1 toque.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53512"/>
            <a:ext cx="6355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90D10"/>
                </a:solidFill>
                <a:latin typeface="Aptos"/>
              </a:rPr>
              <a:t>• Home = visão rápida de faturamento + produtos + vendas.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6355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90D10"/>
                </a:solidFill>
                <a:latin typeface="Aptos"/>
              </a:rPr>
              <a:t>• Navegação inferior fixa: Início / IA / Criar / Perfil.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77639"/>
            <a:ext cx="3657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90D10"/>
                </a:solidFill>
                <a:latin typeface="Aptos"/>
              </a:rPr>
              <a:t>COMPONENTES PRINCIPAIS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462272"/>
            <a:ext cx="7040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553712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>
                <a:solidFill>
                  <a:srgbClr val="090D10"/>
                </a:solidFill>
                <a:latin typeface="Aptos"/>
              </a:rPr>
              <a:t>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4553712"/>
            <a:ext cx="5074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35B5C"/>
                </a:solidFill>
                <a:latin typeface="Aptos"/>
              </a:rPr>
              <a:t>Tela principal escura / mesmo token da 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29200"/>
            <a:ext cx="7040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120640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>
                <a:solidFill>
                  <a:srgbClr val="090D10"/>
                </a:solidFill>
                <a:latin typeface="Aptos"/>
              </a:rPr>
              <a:t>Surface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5120640"/>
            <a:ext cx="5074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35B5C"/>
                </a:solidFill>
                <a:latin typeface="Aptos"/>
              </a:rPr>
              <a:t>Cards elevados com contraste sutil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596128"/>
            <a:ext cx="7040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8756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>
                <a:solidFill>
                  <a:srgbClr val="090D10"/>
                </a:solidFill>
                <a:latin typeface="Aptos"/>
              </a:rPr>
              <a:t>Accent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5687568"/>
            <a:ext cx="5074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35B5C"/>
                </a:solidFill>
                <a:latin typeface="Aptos"/>
              </a:rPr>
              <a:t>Cor de ação oficial da Monetiza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6163056"/>
            <a:ext cx="7040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6254496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>
                <a:solidFill>
                  <a:srgbClr val="090D10"/>
                </a:solidFill>
                <a:latin typeface="Aptos"/>
              </a:rPr>
              <a:t>Radius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6254496"/>
            <a:ext cx="5074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35B5C"/>
                </a:solidFill>
                <a:latin typeface="Aptos"/>
              </a:rPr>
              <a:t>Cards 18–24 px; botões 12–16 px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729983"/>
            <a:ext cx="7040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6821423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>
                <a:solidFill>
                  <a:srgbClr val="090D10"/>
                </a:solidFill>
                <a:latin typeface="Aptos"/>
              </a:rPr>
              <a:t>Spacing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6821423"/>
            <a:ext cx="5074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35B5C"/>
                </a:solidFill>
                <a:latin typeface="Aptos"/>
              </a:rPr>
              <a:t>Base 8 px; margens laterais 24 px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7296912"/>
            <a:ext cx="7040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7388352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1">
                <a:solidFill>
                  <a:srgbClr val="090D10"/>
                </a:solidFill>
                <a:latin typeface="Aptos"/>
              </a:rPr>
              <a:t>Typography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7388352"/>
            <a:ext cx="5074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35B5C"/>
                </a:solidFill>
                <a:latin typeface="Aptos"/>
              </a:rPr>
              <a:t>Mesma família e hierarquia da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8065008"/>
            <a:ext cx="1828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90D10"/>
                </a:solidFill>
                <a:latin typeface="Aptos"/>
              </a:rPr>
              <a:t>TELA 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8485632"/>
            <a:ext cx="70408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8823960"/>
            <a:ext cx="1828800" cy="25603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11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0" y="8823960"/>
            <a:ext cx="1417320" cy="256032"/>
          </a:xfrm>
          <a:prstGeom prst="roundRect">
            <a:avLst/>
          </a:prstGeom>
          <a:solidFill>
            <a:srgbClr val="111619"/>
          </a:solidFill>
          <a:ln w="12700">
            <a:solidFill>
              <a:srgbClr val="11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9281160"/>
            <a:ext cx="6172200" cy="914400"/>
          </a:xfrm>
          <a:prstGeom prst="roundRect">
            <a:avLst/>
          </a:prstGeom>
          <a:solidFill>
            <a:srgbClr val="EBEEED"/>
          </a:solidFill>
          <a:ln w="12700">
            <a:solidFill>
              <a:srgbClr val="DC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10424160"/>
            <a:ext cx="6172200" cy="1143000"/>
          </a:xfrm>
          <a:prstGeom prst="roundRect">
            <a:avLst/>
          </a:prstGeom>
          <a:solidFill>
            <a:srgbClr val="E2EFE9"/>
          </a:solidFill>
          <a:ln w="12700">
            <a:solidFill>
              <a:srgbClr val="C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" y="11814048"/>
            <a:ext cx="1920240" cy="566928"/>
          </a:xfrm>
          <a:prstGeom prst="roundRect">
            <a:avLst/>
          </a:prstGeom>
          <a:solidFill>
            <a:srgbClr val="EBEEED"/>
          </a:solidFill>
          <a:ln w="12700">
            <a:solidFill>
              <a:srgbClr val="DC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63240" y="11814048"/>
            <a:ext cx="1920240" cy="566928"/>
          </a:xfrm>
          <a:prstGeom prst="roundRect">
            <a:avLst/>
          </a:prstGeom>
          <a:solidFill>
            <a:srgbClr val="EBEEED"/>
          </a:solidFill>
          <a:ln w="12700">
            <a:solidFill>
              <a:srgbClr val="DC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12080" y="11814048"/>
            <a:ext cx="1874519" cy="566928"/>
          </a:xfrm>
          <a:prstGeom prst="roundRect">
            <a:avLst/>
          </a:prstGeom>
          <a:solidFill>
            <a:srgbClr val="EBEEED"/>
          </a:solidFill>
          <a:ln w="12700">
            <a:solidFill>
              <a:srgbClr val="DC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8842248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A1A9AA"/>
                </a:solidFill>
                <a:latin typeface="Aptos"/>
              </a:rPr>
              <a:t>Header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9555480"/>
            <a:ext cx="1371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090D10"/>
                </a:solidFill>
                <a:latin typeface="Aptos"/>
              </a:rPr>
              <a:t>Faturamento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10744200"/>
            <a:ext cx="2011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55B45"/>
                </a:solidFill>
                <a:latin typeface="Aptos"/>
              </a:rPr>
              <a:t>IA / Criar produto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11996928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A1A9AA"/>
                </a:solidFill>
                <a:latin typeface="Aptos"/>
              </a:rPr>
              <a:t>Produtos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11996928"/>
            <a:ext cx="1463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A1A9AA"/>
                </a:solidFill>
                <a:latin typeface="Aptos"/>
              </a:rPr>
              <a:t>Vendas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11996928"/>
            <a:ext cx="1371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A1A9AA"/>
                </a:solidFill>
                <a:latin typeface="Aptos"/>
              </a:rPr>
              <a:t>Nav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